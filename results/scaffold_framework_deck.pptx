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project is an AI-driven design and property prediction framework for</a:t>
            </a:r>
          </a:p>
          <a:p>
            <a:r>
              <a:t>biopolymer bone scaffolds. I'm Hari Govind, roll number 231160012, from the Artificial</a:t>
            </a:r>
          </a:p>
          <a:p>
            <a:r>
              <a:t>Intelligence and Machine Learning branch, and this work was carried out under the guidance</a:t>
            </a:r>
          </a:p>
          <a:p>
            <a:r>
              <a:t>of Mr. Athul Ravi.</a:t>
            </a:r>
          </a:p>
          <a:p/>
          <a:p>
            <a:r>
              <a:t>Let me start with the one-line version. If you want to build a scaffold that holds a bone</a:t>
            </a:r>
          </a:p>
          <a:p>
            <a:r>
              <a:t>defect open while new bone grows into it, today you print one, you test it, you find out it</a:t>
            </a:r>
          </a:p>
          <a:p>
            <a:r>
              <a:t>was too stiff or too weak, and you go around again. That loop takes weeks. What I've built</a:t>
            </a:r>
          </a:p>
          <a:p>
            <a:r>
              <a:t>predicts the mechanical performance of a scaffold — not just on day one, but across the whole</a:t>
            </a:r>
          </a:p>
          <a:p>
            <a:r>
              <a:t>healing window as the polymer degrades — before anything is fabricated.</a:t>
            </a:r>
          </a:p>
          <a:p/>
          <a:p>
            <a:r>
              <a:t>The three panels on the right are the idea in one image, and they're not decoration. Those</a:t>
            </a:r>
          </a:p>
          <a:p>
            <a:r>
              <a:t>are real cross-sections through a gyroid, computed from the same level-set code that</a:t>
            </a:r>
          </a:p>
          <a:p>
            <a:r>
              <a:t>generates my simulated dataset, at thirty-five, sixty and eighty-five percent porosity. Read</a:t>
            </a:r>
          </a:p>
          <a:p>
            <a:r>
              <a:t>them top to bottom and you're watching a scaffold resorb: the solid phase thins, the pores</a:t>
            </a:r>
          </a:p>
          <a:p>
            <a:r>
              <a:t>open up, and by eighty-five percent that slice has broken into disconnected islands. Every</a:t>
            </a:r>
          </a:p>
          <a:p>
            <a:r>
              <a:t>step of that costs you stiffness. Predicting that trajectory is the problem I set out to</a:t>
            </a:r>
          </a:p>
          <a:p>
            <a:r>
              <a:t>solve.</a:t>
            </a:r>
          </a:p>
          <a:p/>
          <a:p>
            <a:r>
              <a:t>One thing up front, because it shapes everything that follows. The headline result of this</a:t>
            </a:r>
          </a:p>
          <a:p>
            <a:r>
              <a:t>project is that the physics model wins and the machine learning does not beat it. I'll show</a:t>
            </a:r>
          </a:p>
          <a:p>
            <a:r>
              <a:t>you those numbers honestly rather than dressing them up, because the reason it loses is the</a:t>
            </a:r>
          </a:p>
          <a:p>
            <a:r>
              <a:t>most interesting finding I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why does this matter? Take the problem first, on the left.</a:t>
            </a:r>
          </a:p>
          <a:p/>
          <a:p>
            <a:r>
              <a:t>Scaffold development today is a print-test-repeat loop. You design a geometry, print it,</a:t>
            </a:r>
          </a:p>
          <a:p>
            <a:r>
              <a:t>crush it in a testing machine, and learn one number about one scaffold. That takes weeks, and</a:t>
            </a:r>
          </a:p>
          <a:p>
            <a:r>
              <a:t>at the end you know about the thing you already built — it tells you nothing about the</a:t>
            </a:r>
          </a:p>
          <a:p>
            <a:r>
              <a:t>geometry you didn't try.</a:t>
            </a:r>
          </a:p>
          <a:p/>
          <a:p>
            <a:r>
              <a:t>There's a second, subtler problem, and it's the one that actually motivated this project. The</a:t>
            </a:r>
          </a:p>
          <a:p>
            <a:r>
              <a:t>number you measure on day one is not the number that matters clinically. These are resorbable</a:t>
            </a:r>
          </a:p>
          <a:p>
            <a:r>
              <a:t>polymers. They hydrolyse, they lose molecular weight, then they start losing mass, so the</a:t>
            </a:r>
          </a:p>
          <a:p>
            <a:r>
              <a:t>scaffold gets more porous and less stiff over exactly the weeks when the bone is trying to</a:t>
            </a:r>
          </a:p>
          <a:p>
            <a:r>
              <a:t>heal. The figure in the box is from my own pipeline: a PLGA 85:15 scaffold with beta-TCP is</a:t>
            </a:r>
          </a:p>
          <a:p>
            <a:r>
              <a:t>down to about forty-one percent of its day-one stiffness by week twelve. A scaffold that is</a:t>
            </a:r>
          </a:p>
          <a:p>
            <a:r>
              <a:t>perfect in the testing machine can be far too soft by the time it matters. So what you really</a:t>
            </a:r>
          </a:p>
          <a:p>
            <a:r>
              <a:t>want to predict is a trajectory, not a single value.</a:t>
            </a:r>
          </a:p>
          <a:p/>
          <a:p>
            <a:r>
              <a:t>Now the four claims on the right. I've attached a real number to each one, because I don't</a:t>
            </a:r>
          </a:p>
          <a:p>
            <a:r>
              <a:t>want to stand here and say this saves time and cost without evidence. Each card also carries</a:t>
            </a:r>
          </a:p>
          <a:p>
            <a:r>
              <a:t>where in the repository the number comes from.</a:t>
            </a:r>
          </a:p>
          <a:p/>
          <a:p>
            <a:r>
              <a:t>First, scale. The simulated tier is 747 scaffolds spanning ten distinct architectures — FDM</a:t>
            </a:r>
          </a:p>
          <a:p>
            <a:r>
              <a:t>strut lattices and four TPMS families, gyroid, diamond, Schwarz-P and IWP, in sheet and</a:t>
            </a:r>
          </a:p>
          <a:p>
            <a:r>
              <a:t>network modes. Porosity runs from about 0.16 to 0.91. Every row is a converged voxel finite</a:t>
            </a:r>
          </a:p>
          <a:p>
            <a:r>
              <a:t>element solve, not an interpolation.</a:t>
            </a:r>
          </a:p>
          <a:p/>
          <a:p>
            <a:r>
              <a:t>Second, generalisation. The headline accuracy is R-squared 0.73, and the important word is</a:t>
            </a:r>
          </a:p>
          <a:p>
            <a:r>
              <a:t>which R-squared. That is leave-one-architecture-out: I hold out an entire topology, train on</a:t>
            </a:r>
          </a:p>
          <a:p>
            <a:r>
              <a:t>the rest, and predict the one the model has never seen. That's the question a design tool</a:t>
            </a:r>
          </a:p>
          <a:p>
            <a:r>
              <a:t>actually has to answer.</a:t>
            </a:r>
          </a:p>
          <a:p/>
          <a:p>
            <a:r>
              <a:t>Third — and this is the methodological point I'm proudest of — honest validation. Score the</a:t>
            </a:r>
          </a:p>
          <a:p>
            <a:r>
              <a:t>same model with a random K-fold split and you get R-squared 0.99. Group the folds by</a:t>
            </a:r>
          </a:p>
          <a:p>
            <a:r>
              <a:t>architecture and the same model gets 0.53. That gap of 0.47 is not accuracy, it's optimism</a:t>
            </a:r>
          </a:p>
          <a:p>
            <a:r>
              <a:t>manufactured by the split. I ran the same audit on a published printability dataset grouped</a:t>
            </a:r>
          </a:p>
          <a:p>
            <a:r>
              <a:t>by DOI: random accuracy 0.83, grouped 0.58, against a majority-class baseline of 0.56. So the</a:t>
            </a:r>
          </a:p>
          <a:p>
            <a:r>
              <a:t>honest score beats guessing by about three points, not by twenty-seven.</a:t>
            </a:r>
          </a:p>
          <a:p/>
          <a:p>
            <a:r>
              <a:t>Fourth, the clinical constraints are hard gates, not weights in an objective. Of 725 simulated</a:t>
            </a:r>
          </a:p>
          <a:p>
            <a:r>
              <a:t>geometries, only 266 are printable and capable of bone ingrowth. The rejections break down as</a:t>
            </a:r>
          </a:p>
          <a:p>
            <a:r>
              <a:t>249 outside the fifty-to-ninety percent porosity window, 154 outside the 200-to-600 micron</a:t>
            </a:r>
          </a:p>
          <a:p>
            <a:r>
              <a:t>pore window, 35 with struts too thin for a real nozzle, and 21 with closed porosity. A</a:t>
            </a:r>
          </a:p>
          <a:p>
            <a:r>
              <a:t>closed-pore scaffold isn't a slightly worse scaffold — bone physically cannot grow into it —</a:t>
            </a:r>
          </a:p>
          <a:p>
            <a:r>
              <a:t>so no stiffness score should be allowed to buy that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machinery. Left side is how a prediction is made; right side is how well it works.</a:t>
            </a:r>
          </a:p>
          <a:p/>
          <a:p>
            <a:r>
              <a:t>Start on the left. This is what I call the mechanistic decoder, and the important claim about</a:t>
            </a:r>
          </a:p>
          <a:p>
            <a:r>
              <a:t>it is in the blue box: it contains zero learned parameters. Every line is textbook, and I can</a:t>
            </a:r>
          </a:p>
          <a:p>
            <a:r>
              <a:t>defend it step by step.</a:t>
            </a:r>
          </a:p>
          <a:p/>
          <a:p>
            <a:r>
              <a:t>You give it a composition — say PLGA 85:15 with thirty weight percent beta-tricalcium</a:t>
            </a:r>
          </a:p>
          <a:p>
            <a:r>
              <a:t>phosphate. Step one, I convert weight fractions to volume fractions, because papers report</a:t>
            </a:r>
          </a:p>
          <a:p>
            <a:r>
              <a:t>weight percent but every mechanical model needs volume percent. Step two, Halpin–Tsai gives</a:t>
            </a:r>
          </a:p>
          <a:p>
            <a:r>
              <a:t>me the modulus of the solid composite, E-sub-s: the stiffness of the material the scaffold is</a:t>
            </a:r>
          </a:p>
          <a:p>
            <a:r>
              <a:t>made from, if it were fully dense. Step three, an autocatalytic hydrolysis ODE. Chains break,</a:t>
            </a:r>
          </a:p>
          <a:p>
            <a:r>
              <a:t>each break creates a carboxylic acid end group, and that acid catalyses further breakage — so</a:t>
            </a:r>
          </a:p>
          <a:p>
            <a:r>
              <a:t>degradation accelerates itself. My rate law also captures two real effects: a more porous</a:t>
            </a:r>
          </a:p>
          <a:p>
            <a:r>
              <a:t>scaffold washes acid out faster and so degrades more slowly, and a dissolving ceramic buffers</a:t>
            </a:r>
          </a:p>
          <a:p>
            <a:r>
              <a:t>the acid, which is the known mechanism by which TCP and bioglass slow polyester degradation.</a:t>
            </a:r>
          </a:p>
          <a:p>
            <a:r>
              <a:t>Step four, once chains fall below a critical molecular weight they become soluble and wash</a:t>
            </a:r>
          </a:p>
          <a:p>
            <a:r>
              <a:t>out — that's the mass loss, and mass loss is what drives porosity upward. Step five,</a:t>
            </a:r>
          </a:p>
          <a:p>
            <a:r>
              <a:t>Gibson–Ashby converts that solid modulus and that porosity into the modulus of the porous</a:t>
            </a:r>
          </a:p>
          <a:p>
            <a:r>
              <a:t>scaffold: E of t equals C times E-s of t times one minus P of t, all raised to the power n.</a:t>
            </a:r>
          </a:p>
          <a:p/>
          <a:p>
            <a:r>
              <a:t>Only n and C are fitted, and there's one refinement worth pointing out. At time zero I already</a:t>
            </a:r>
          </a:p>
          <a:p>
            <a:r>
              <a:t>know the exact FEM answer for that specific geometry, so rather than reading a smoothed value</a:t>
            </a:r>
          </a:p>
          <a:p>
            <a:r>
              <a:t>off the power-law fit, I re-anchor C to reproduce the solved modulus exactly. That leaves the</a:t>
            </a:r>
          </a:p>
          <a:p>
            <a:r>
              <a:t>exponent to do the only job it's needed for — evolving the modulus as degradation raises</a:t>
            </a:r>
          </a:p>
          <a:p>
            <a:r>
              <a:t>porosity. Without that, candidates whose scores differ by under a percent get reordered by</a:t>
            </a:r>
          </a:p>
          <a:p>
            <a:r>
              <a:t>fitting noise.</a:t>
            </a:r>
          </a:p>
          <a:p/>
          <a:p>
            <a:r>
              <a:t>Now the right-hand side, and I want to be straightforward, because this is not the result I</a:t>
            </a:r>
          </a:p>
          <a:p>
            <a:r>
              <a:t>expected.</a:t>
            </a:r>
          </a:p>
          <a:p/>
          <a:p>
            <a:r>
              <a:t>I built a four-rung ladder to ask one question honestly: how much does machine learning</a:t>
            </a:r>
          </a:p>
          <a:p>
            <a:r>
              <a:t>actually add over the closed-form theory a supervisor could write on a whiteboard? Rung one is</a:t>
            </a:r>
          </a:p>
          <a:p>
            <a:r>
              <a:t>global Gibson–Ashby, one n and one C for everything. Rung two is Gibson–Ashby fitted per</a:t>
            </a:r>
          </a:p>
          <a:p>
            <a:r>
              <a:t>architecture. Rung three is plain gradient boosting with no physics. Rung four is my proposal</a:t>
            </a:r>
          </a:p>
          <a:p>
            <a:r>
              <a:t>— Gibson–Ashby as a prior, with ML learning only the residual.</a:t>
            </a:r>
          </a:p>
          <a:p/>
          <a:p>
            <a:r>
              <a:t>Under leave-one-architecture-out the two physics rungs score 0.733, and the two ML rungs score</a:t>
            </a:r>
          </a:p>
          <a:p>
            <a:r>
              <a:t>0.555 and 0.551. The physics wins by about 0.18, and the physics-informed hybrid is very</a:t>
            </a:r>
          </a:p>
          <a:p>
            <a:r>
              <a:t>slightly the worst of the four. I'm not going to present that as an ML success, because it</a:t>
            </a:r>
          </a:p>
          <a:p>
            <a:r>
              <a:t>isn't one.</a:t>
            </a:r>
          </a:p>
          <a:p/>
          <a:p>
            <a:r>
              <a:t>Two things are worth explaining. The two physics bars are identical, and that's not a plotting</a:t>
            </a:r>
          </a:p>
          <a:p>
            <a:r>
              <a:t>error — it's the point of that control. With the topology held out, the per-architecture</a:t>
            </a:r>
          </a:p>
          <a:p>
            <a:r>
              <a:t>lookup has no entry for it, falls back to the global fit, and returns exactly the same</a:t>
            </a:r>
          </a:p>
          <a:p>
            <a:r>
              <a:t>predictions. Which is precisely why a per-architecture lookup table is not a design tool.</a:t>
            </a:r>
          </a:p>
          <a:p/>
          <a:p>
            <a:r>
              <a:t>And why does the learned residual actually make things worse? Because the residual it learns</a:t>
            </a:r>
          </a:p>
          <a:p>
            <a:r>
              <a:t>is architecture-specific. On a topology held out entirely, that correction isn't merely</a:t>
            </a:r>
          </a:p>
          <a:p>
            <a:r>
              <a:t>uninformative — it's wrong, and it's being added to a prior that was already right. So it</a:t>
            </a:r>
          </a:p>
          <a:p>
            <a:r>
              <a:t>subtracts accuracy. There are two honest readings and I can't yet settle between them: either</a:t>
            </a:r>
          </a:p>
          <a:p>
            <a:r>
              <a:t>the simulated relative modulus really is a clean power law in relative density, leaving no</a:t>
            </a:r>
          </a:p>
          <a:p>
            <a:r>
              <a:t>transferable residual structure, or the residual stage needs to shrink toward zero when the</a:t>
            </a:r>
          </a:p>
          <a:p>
            <a:r>
              <a:t>held-out geometry falls outside the training manifold. Distinguishing those needs the curated</a:t>
            </a:r>
          </a:p>
          <a:p>
            <a:r>
              <a:t>experimental tier, which is the next stage of the work.</a:t>
            </a:r>
          </a:p>
          <a:p/>
          <a:p>
            <a:r>
              <a:t>One last thing if you ask about the multi-fidelity layer. I implemented recursive co-kriging in</a:t>
            </a:r>
          </a:p>
          <a:p>
            <a:r>
              <a:t>the Le Gratiet form, fusing a coarse mesh with a fine one. Rho comes out between 0.83 and</a:t>
            </a:r>
          </a:p>
          <a:p>
            <a:r>
              <a:t>0.94, which says the cheap simulation has essentially the right shape and mainly needs</a:t>
            </a:r>
          </a:p>
          <a:p>
            <a:r>
              <a:t>rescaling, and the fused model holds Spearman correlation between 0.92 and 0.94 at every</a:t>
            </a:r>
          </a:p>
          <a:p>
            <a:r>
              <a:t>budget. But I should be honest there too: on R-squared, the fused model only overtakes the</a:t>
            </a:r>
          </a:p>
          <a:p>
            <a:r>
              <a:t>cheap source once you give it about 24 trusted points. Below that, simply trusting the coarse</a:t>
            </a:r>
          </a:p>
          <a:p>
            <a:r>
              <a:t>mesh is as good or better.</a:t>
            </a:r>
          </a:p>
          <a:p/>
          <a:p>
            <a:r>
              <a:t>REFERENCES</a:t>
            </a:r>
          </a:p>
          <a:p>
            <a:r>
              <a:t>Gibson, L. J. &amp; Ashby, M. F. (1982). The mechanics of three-dimensional cellular materials.</a:t>
            </a:r>
          </a:p>
          <a:p>
            <a:r>
              <a:t>  Proc. R. Soc. Lond. A 382(1782), 43–59. doi:10.1098/rspa.1982.0088</a:t>
            </a:r>
          </a:p>
          <a:p>
            <a:r>
              <a:t>  [book: Cellular Solids: Structure and Properties, 2nd ed., CUP 1997. doi:10.1017/CBO9781139878326]</a:t>
            </a:r>
          </a:p>
          <a:p>
            <a:r>
              <a:t>Halpin, J. C. (1969). Stiffness and expansion estimates for oriented short fiber composites.</a:t>
            </a:r>
          </a:p>
          <a:p>
            <a:r>
              <a:t>  J. Composite Materials 3(4), 732–734. doi:10.1177/002199836900300419</a:t>
            </a:r>
          </a:p>
          <a:p>
            <a:r>
              <a:t>Antheunis, H., van der Meer, J.-C., de Geus, M., Heise, A. &amp; Koning, C. E. (2010). Autocatalytic</a:t>
            </a:r>
          </a:p>
          <a:p>
            <a:r>
              <a:t>  equation describing the change in molecular weight during hydrolytic degradation of aliphatic</a:t>
            </a:r>
          </a:p>
          <a:p>
            <a:r>
              <a:t>  polyesters. Biomacromolecules 11(4), 1118–1124. doi:10.1021/bm100125b</a:t>
            </a:r>
          </a:p>
          <a:p>
            <a:r>
              <a:t>Le Gratiet, L. &amp; Garnier, J. (2014). Recursive co-kriging model for design of computer</a:t>
            </a:r>
          </a:p>
          <a:p>
            <a:r>
              <a:t>  experiments with multiple levels of fidelity. Int. J. Uncertainty Quantification 4(5),</a:t>
            </a:r>
          </a:p>
          <a:p>
            <a:r>
              <a:t>  365–386. doi:10.1615/Int.J.UncertaintyQuantification.2014006914</a:t>
            </a:r>
          </a:p>
          <a:p>
            <a:r>
              <a:t>  [origin: Kennedy, M. C. &amp; O'Hagan, A. (2000). Biometrika 87(1), 1–13. doi:10.1093/biomet/87.1.1]</a:t>
            </a:r>
          </a:p>
          <a:p/>
          <a:p>
            <a:r>
              <a:t>POSITIONING — recent ML for bone scaffolds</a:t>
            </a:r>
          </a:p>
          <a:p>
            <a:r>
              <a:t>Liu, W., Zhang, Y., Lyu, Y., Bosiakov, S. &amp; Liu, Y. (2023). Inverse design of anisotropic bone</a:t>
            </a:r>
          </a:p>
          <a:p>
            <a:r>
              <a:t>  scaffold based on machine learning and regenerative genetic algorithm. Front. Bioeng.</a:t>
            </a:r>
          </a:p>
          <a:p>
            <a:r>
              <a:t>  Biotechnol. 11, 1241151. doi:10.3389/fbioe.2023.1241151</a:t>
            </a:r>
          </a:p>
          <a:p>
            <a:r>
              <a:t>Foroughi, A. H., Valeri, C. &amp; Razavi, M. J. (2024). A review of computational optimization of</a:t>
            </a:r>
          </a:p>
          <a:p>
            <a:r>
              <a:t>  bone scaffold architecture. Prog. Biomed. Eng. 7(1), 012003. doi:10.1088/2516-1091/ad879a</a:t>
            </a:r>
          </a:p>
          <a:p>
            <a:r>
              <a:t>Zahedi, S. M. et al. (2025). Comparative evaluation of neural networks and transfer learning for</a:t>
            </a:r>
          </a:p>
          <a:p>
            <a:r>
              <a:t>  predicting mechanical properties of 3D-printed bone scaffolds. Macromol. Mater. Eng. 310(10),</a:t>
            </a:r>
          </a:p>
          <a:p>
            <a:r>
              <a:t>  e00073. doi:10.1002/mame.202500073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 — Title@2x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2 — Why it matters@2x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3 — How it works@2x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